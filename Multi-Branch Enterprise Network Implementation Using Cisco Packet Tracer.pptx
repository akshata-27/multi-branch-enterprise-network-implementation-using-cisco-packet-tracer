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4"/>
  </p:notesMasterIdLst>
  <p:sldIdLst>
    <p:sldId id="286" r:id="rId2"/>
    <p:sldId id="284" r:id="rId3"/>
    <p:sldId id="287" r:id="rId4"/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5" r:id="rId3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kshata lotankar" initials="Al" lastIdx="1" clrIdx="0">
    <p:extLst>
      <p:ext uri="{19B8F6BF-5375-455C-9EA6-DF929625EA0E}">
        <p15:presenceInfo xmlns:p15="http://schemas.microsoft.com/office/powerpoint/2012/main" userId="ed1d549851bcfe2d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3605" autoAdjust="0"/>
  </p:normalViewPr>
  <p:slideViewPr>
    <p:cSldViewPr snapToGrid="0">
      <p:cViewPr varScale="1">
        <p:scale>
          <a:sx n="58" d="100"/>
          <a:sy n="58" d="100"/>
        </p:scale>
        <p:origin x="98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commentAuthors" Target="commentAuthor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56CDA9-F52D-4038-AC79-52C80A4FDDF8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77745C-9E64-4BB3-918E-125002366D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43872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77745C-9E64-4BB3-918E-125002366DDD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20903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The important thing is: /30 subnets always increase in blocks of 4.</a:t>
            </a:r>
          </a:p>
          <a:p>
            <a:r>
              <a:rPr lang="en-US" b="1" dirty="0"/>
              <a:t>Why .9 and .10 use 10.0.0.8/30 For /30:</a:t>
            </a:r>
          </a:p>
          <a:p>
            <a:r>
              <a:rPr lang="en-US" b="1" dirty="0"/>
              <a:t>Network address = first IP</a:t>
            </a:r>
          </a:p>
          <a:p>
            <a:r>
              <a:rPr lang="en-US" b="1" dirty="0"/>
              <a:t>Usable IPs = next 2 </a:t>
            </a:r>
          </a:p>
          <a:p>
            <a:r>
              <a:rPr lang="en-US" b="1" dirty="0" err="1"/>
              <a:t>IPsBroadcast</a:t>
            </a:r>
            <a:r>
              <a:rPr lang="en-US" b="1" dirty="0"/>
              <a:t> = fourth IP</a:t>
            </a:r>
          </a:p>
          <a:p>
            <a:endParaRPr lang="en-US" b="1" dirty="0"/>
          </a:p>
          <a:p>
            <a:r>
              <a:rPr lang="en-US" b="1" dirty="0"/>
              <a:t>Easy way to remember /30</a:t>
            </a:r>
          </a:p>
          <a:p>
            <a:r>
              <a:rPr lang="en-US" b="1" dirty="0"/>
              <a:t>Just count by 4:</a:t>
            </a:r>
          </a:p>
          <a:p>
            <a:r>
              <a:rPr lang="en-US" b="1" dirty="0"/>
              <a:t>0 → 4 → 8 → 12 → 16 → 20 → 24 → ...</a:t>
            </a:r>
          </a:p>
          <a:p>
            <a:r>
              <a:rPr lang="en-US" b="1" dirty="0"/>
              <a:t>Each block looks like:</a:t>
            </a:r>
          </a:p>
          <a:p>
            <a:r>
              <a:rPr lang="en-US" b="1" dirty="0"/>
              <a:t>Network   Host   </a:t>
            </a:r>
            <a:r>
              <a:rPr lang="en-US" b="1" dirty="0" err="1"/>
              <a:t>Host</a:t>
            </a:r>
            <a:r>
              <a:rPr lang="en-US" b="1" dirty="0"/>
              <a:t>   Broadcast  </a:t>
            </a:r>
          </a:p>
          <a:p>
            <a:r>
              <a:rPr lang="en-US" b="1" dirty="0"/>
              <a:t>.0                .1         .2       .3  </a:t>
            </a:r>
          </a:p>
          <a:p>
            <a:r>
              <a:rPr lang="en-US" b="1" dirty="0"/>
              <a:t>.4                .5         .6       .7  </a:t>
            </a:r>
          </a:p>
          <a:p>
            <a:r>
              <a:rPr lang="en-US" b="1" dirty="0"/>
              <a:t>.8                .9         .10     .11 </a:t>
            </a:r>
          </a:p>
          <a:p>
            <a:r>
              <a:rPr lang="en-US" b="1" dirty="0"/>
              <a:t>.12              .13       .14     .15</a:t>
            </a:r>
            <a:endParaRPr lang="en-IN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77745C-9E64-4BB3-918E-125002366DDD}" type="slidenum">
              <a:rPr lang="en-IN" smtClean="0"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13731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DAF9AD-AF84-5942-AC42-6FFA8C17A8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E60E0E8-8287-5B6E-6714-C410D896D6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0EDD8A-91DE-EEF3-0856-D4DE3F587C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B5359-8D17-4491-AD9F-AC5A206861BF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7F8ED0-C169-BED4-0438-C21B42428A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73DB0D-979E-2B07-259D-DA7C6995D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809706-73F1-4007-9295-8E2F9BCEAA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38736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E23479-373F-3F5A-0A72-A465A556AA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45BA45-5BDD-FA19-A986-E98207BD96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5B5656-16D3-A056-D7F2-AC1A3E556C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B5359-8D17-4491-AD9F-AC5A206861BF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29B8CD-F707-E41F-F6E6-E0D3C41D23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34149C-6A78-E148-65BE-34E3D05511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809706-73F1-4007-9295-8E2F9BCEAA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92000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5A82B-F5C9-1010-A3A5-B1BF2E8E05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0D37FD-E803-6C3B-A7EE-349043EDC9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0960C6-B4BF-3841-E909-BAFD162108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B5359-8D17-4491-AD9F-AC5A206861BF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C094D3-444C-9FBA-DE56-0DA8224222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19F3C8-8317-531D-F6E4-692C842900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809706-73F1-4007-9295-8E2F9BCEAA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68196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FE135A-4CE6-30B8-6BE5-30AF5C7B69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580012-4C92-7006-CE38-B43841C508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EBAD13-257C-45AC-13AC-659CE30F62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2EE77C-32FD-367B-EC74-1BAC893679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B5359-8D17-4491-AD9F-AC5A206861BF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865D54-226C-232F-9707-AA98CE6A83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EF8077-A5DE-239F-5AFC-7283958E66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809706-73F1-4007-9295-8E2F9BCEAA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43988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1C488B-BCD3-0B5C-D516-55A635BF64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963CBD-A6C8-28D8-01D7-B31436ED79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4DBCAF-9977-9487-E552-F0FAB18982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CCD98A0-631F-2524-07C0-A6AACA72E32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C5DEE5A-1F7D-DEFA-0546-8CD765928DA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2D4E5B8-CE8C-1FC8-80BA-D8719C4388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B5359-8D17-4491-AD9F-AC5A206861BF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A29B3A3-321B-96B9-32CD-9FBC9455A3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0192D25-617A-369B-2EA7-3A685CC495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809706-73F1-4007-9295-8E2F9BCEAA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3128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D95823-46A1-69CE-7DE1-D87A409D8F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42F5693-82E5-2CA4-E516-FB720FBCA5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B5359-8D17-4491-AD9F-AC5A206861BF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2C25E28-3D0F-3DBA-26F4-7DCD5C1E55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19F841-730B-FC93-BFB9-58EBE27876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809706-73F1-4007-9295-8E2F9BCEAA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59384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B2D6B8A-ED08-B5F2-70E8-AF097ECF90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B5359-8D17-4491-AD9F-AC5A206861BF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41E8922-FEB7-0A6F-F7DF-A36DDB446A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5374E6-97AC-3A64-A5A7-10E9B8BB52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809706-73F1-4007-9295-8E2F9BCEAA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01766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AD461-1DD3-AE3E-A09B-EEAEB552F6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65CFD9-51AB-FDD1-B832-99B65381E4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A02EF6-2A42-01D3-2FEF-480BF03670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54627A-8B08-9BED-514F-80F3536591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B5359-8D17-4491-AD9F-AC5A206861BF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FB6379-5CBA-6023-5878-82EDC7AFAB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B9B90A-48BE-532C-D096-D58CC69461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809706-73F1-4007-9295-8E2F9BCEAA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05184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E0E494-B084-22B8-9FF2-6FD7973EFD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ED627EF-2A83-A12C-BD8F-BAD211929D39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B6E410-E503-2449-A08A-316B15F163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579DB0-A732-15D7-1783-17E4A2F271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B5359-8D17-4491-AD9F-AC5A206861BF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EB951B-B3CE-F86E-205B-C3328024DA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1B5D27-837F-BA43-6693-7EA0D13EC3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809706-73F1-4007-9295-8E2F9BCEAA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29851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F8E6CA-9BE7-A851-0F9E-C3BB8489C4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5BEC217-33B4-9412-6825-00EB5E37C7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FB3F84-6F31-4514-F6BF-D594749E4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B5359-8D17-4491-AD9F-AC5A206861BF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702540-5394-C72E-473D-7501AD9ECB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153265-129E-6E97-4970-B39C81C943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809706-73F1-4007-9295-8E2F9BCEAA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69054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F30B97B-59E2-983F-512C-83FBC576D1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B4ED1E6-0F36-53C8-E2FE-8D20DD86B2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8BA6F6-6E9B-C1DB-EAC1-BDBB2182D8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B5359-8D17-4491-AD9F-AC5A206861BF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612BBB-190C-902D-4CC5-664E190694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2C2C21-AFCD-44E5-5DBC-A432C691F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809706-73F1-4007-9295-8E2F9BCEAA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30437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9AFFE92-D012-EB71-14DA-D9AE41E549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EE1F4B-21B8-8EA2-FE08-4EE3D16392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97395C-9BFF-47D5-4E82-41565710DC4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BB5359-8D17-4491-AD9F-AC5A206861BF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9B8E4C-AA28-4112-6FA4-D40FCE2C30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DC0634-A69E-99FE-9BCE-B2C5F74912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809706-73F1-4007-9295-8E2F9BCEAA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12515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8BF7FC4-32EF-F18A-5584-F8691CD3E9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494196" cy="6056223"/>
          </a:xfrm>
        </p:spPr>
        <p:txBody>
          <a:bodyPr>
            <a:normAutofit/>
          </a:bodyPr>
          <a:lstStyle/>
          <a:p>
            <a:pPr algn="ctr"/>
            <a:r>
              <a:rPr lang="en-IN" sz="7200" dirty="0">
                <a:latin typeface="Baskerville Old Face" panose="02020602080505020303" pitchFamily="18" charset="0"/>
              </a:rPr>
              <a:t>Multi-Branch Enterprise Network Implementation Using </a:t>
            </a:r>
            <a:br>
              <a:rPr lang="en-IN" sz="7200" dirty="0">
                <a:latin typeface="Baskerville Old Face" panose="02020602080505020303" pitchFamily="18" charset="0"/>
              </a:rPr>
            </a:br>
            <a:r>
              <a:rPr lang="en-IN" sz="7200" dirty="0">
                <a:latin typeface="Baskerville Old Face" panose="02020602080505020303" pitchFamily="18" charset="0"/>
              </a:rPr>
              <a:t>Cisco Packet Tracer</a:t>
            </a:r>
          </a:p>
        </p:txBody>
      </p:sp>
    </p:spTree>
    <p:extLst>
      <p:ext uri="{BB962C8B-B14F-4D97-AF65-F5344CB8AC3E}">
        <p14:creationId xmlns:p14="http://schemas.microsoft.com/office/powerpoint/2010/main" val="25859795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6CF47B5-46F3-B9FD-4004-77858158D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612" y="272622"/>
            <a:ext cx="9838237" cy="508214"/>
          </a:xfrm>
        </p:spPr>
        <p:txBody>
          <a:bodyPr>
            <a:normAutofit fontScale="90000"/>
          </a:bodyPr>
          <a:lstStyle/>
          <a:p>
            <a:r>
              <a:rPr lang="en-IN" b="1" dirty="0">
                <a:latin typeface="Arial Black" panose="020B0A04020102020204" pitchFamily="34" charset="0"/>
              </a:rPr>
              <a:t>How This Project Supports Industries</a:t>
            </a:r>
            <a:endParaRPr lang="en-IN" dirty="0">
              <a:latin typeface="Arial Black" panose="020B0A04020102020204" pitchFamily="34" charset="0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CCE70F7-43BF-7455-6A98-C12A4F5C70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80727" y="780835"/>
            <a:ext cx="4591298" cy="5804543"/>
          </a:xfrm>
        </p:spPr>
        <p:txBody>
          <a:bodyPr>
            <a:normAutofit fontScale="92500" lnSpcReduction="10000"/>
          </a:bodyPr>
          <a:lstStyle/>
          <a:p>
            <a:r>
              <a:rPr lang="en-IN" sz="1400" dirty="0"/>
              <a:t>This project demonstrates how industries can connect multiple offices and manage communication through a centralized network.</a:t>
            </a:r>
          </a:p>
          <a:p>
            <a:pPr lvl="0"/>
            <a:r>
              <a:rPr lang="en-IN" sz="1400" b="1" dirty="0"/>
              <a:t>Centralized Communication:</a:t>
            </a:r>
            <a:r>
              <a:rPr lang="en-IN" sz="1400" dirty="0"/>
              <a:t> Connects the head office, branch offices, and remote offices for smooth data sharing.</a:t>
            </a:r>
          </a:p>
          <a:p>
            <a:pPr lvl="0"/>
            <a:r>
              <a:rPr lang="en-IN" sz="1400" b="1" dirty="0"/>
              <a:t>Automatic IP Allocation:</a:t>
            </a:r>
            <a:r>
              <a:rPr lang="en-IN" sz="1400" dirty="0"/>
              <a:t> DHCP reduces manual configuration and saves time when connecting new devices.</a:t>
            </a:r>
          </a:p>
          <a:p>
            <a:pPr lvl="0"/>
            <a:r>
              <a:rPr lang="en-IN" sz="1400" b="1" dirty="0"/>
              <a:t>Domain Name Resolution:</a:t>
            </a:r>
            <a:r>
              <a:rPr lang="en-IN" sz="1400" dirty="0"/>
              <a:t> DNS allows employees to access network resources using names instead of remembering IP addresses.</a:t>
            </a:r>
          </a:p>
          <a:p>
            <a:pPr lvl="0"/>
            <a:r>
              <a:rPr lang="en-IN" sz="1400" b="1" dirty="0"/>
              <a:t>Reliable Connectivity:</a:t>
            </a:r>
            <a:r>
              <a:rPr lang="en-IN" sz="1400" dirty="0"/>
              <a:t> OSPF and RIP demonstrate dynamic routing to exchange network information between routers.</a:t>
            </a:r>
          </a:p>
          <a:p>
            <a:pPr lvl="0"/>
            <a:r>
              <a:rPr lang="en-IN" sz="1400" b="1" dirty="0"/>
              <a:t>External Network Connectivity:</a:t>
            </a:r>
            <a:r>
              <a:rPr lang="en-IN" sz="1400" dirty="0"/>
              <a:t> NAT allows multiple internal devices to share a public-facing IP address.</a:t>
            </a:r>
          </a:p>
          <a:p>
            <a:pPr lvl="0"/>
            <a:r>
              <a:rPr lang="en-IN" sz="1400" b="1" dirty="0"/>
              <a:t>Secure Remote Access:</a:t>
            </a:r>
            <a:r>
              <a:rPr lang="en-IN" sz="1400" dirty="0"/>
              <a:t> SSH provides encrypted remote management of network devices.</a:t>
            </a:r>
          </a:p>
          <a:p>
            <a:pPr lvl="0"/>
            <a:r>
              <a:rPr lang="en-IN" sz="1400" b="1" dirty="0"/>
              <a:t>Scalability:</a:t>
            </a:r>
            <a:r>
              <a:rPr lang="en-IN" sz="1400" dirty="0"/>
              <a:t> The network design can be extended to support additional offices, users, and devices.</a:t>
            </a:r>
          </a:p>
          <a:p>
            <a:r>
              <a:rPr lang="en-IN" sz="1400" b="1" dirty="0"/>
              <a:t>Industry Applications:</a:t>
            </a:r>
            <a:endParaRPr lang="en-IN" sz="1400" dirty="0"/>
          </a:p>
          <a:p>
            <a:pPr lvl="0"/>
            <a:r>
              <a:rPr lang="en-IN" sz="1400" dirty="0"/>
              <a:t>IT companies</a:t>
            </a:r>
          </a:p>
          <a:p>
            <a:pPr lvl="0"/>
            <a:r>
              <a:rPr lang="en-IN" sz="1400" dirty="0"/>
              <a:t>Banking and financial institutions</a:t>
            </a:r>
          </a:p>
          <a:p>
            <a:pPr lvl="0"/>
            <a:r>
              <a:rPr lang="en-IN" sz="1400" dirty="0"/>
              <a:t>Educational organizations</a:t>
            </a:r>
          </a:p>
          <a:p>
            <a:pPr lvl="0"/>
            <a:r>
              <a:rPr lang="en-IN" sz="1400" dirty="0"/>
              <a:t>Healthcare networks</a:t>
            </a:r>
          </a:p>
          <a:p>
            <a:pPr lvl="0"/>
            <a:r>
              <a:rPr lang="en-IN" sz="1400" dirty="0"/>
              <a:t>Multinational companies with multiple offices</a:t>
            </a:r>
          </a:p>
          <a:p>
            <a:endParaRPr lang="en-IN" sz="1400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49705755-C620-D286-7E66-83BFC17CF10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523428" y="1241470"/>
            <a:ext cx="7668572" cy="4375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23299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5B60B10-2A2F-05E7-893F-A5A2CD5985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668856" cy="6025401"/>
          </a:xfrm>
        </p:spPr>
        <p:txBody>
          <a:bodyPr>
            <a:normAutofit/>
          </a:bodyPr>
          <a:lstStyle/>
          <a:p>
            <a:pPr algn="ctr"/>
            <a:r>
              <a:rPr lang="en-IN" sz="6000" dirty="0">
                <a:latin typeface="Baskerville Old Face" panose="02020602080505020303" pitchFamily="18" charset="0"/>
              </a:rPr>
              <a:t>Lets Begin With the Configuration</a:t>
            </a:r>
          </a:p>
        </p:txBody>
      </p:sp>
    </p:spTree>
    <p:extLst>
      <p:ext uri="{BB962C8B-B14F-4D97-AF65-F5344CB8AC3E}">
        <p14:creationId xmlns:p14="http://schemas.microsoft.com/office/powerpoint/2010/main" val="24501255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B64D115-1AF2-14D1-020C-23F14F6D04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8542" y="122755"/>
            <a:ext cx="7898176" cy="315912"/>
          </a:xfrm>
        </p:spPr>
        <p:txBody>
          <a:bodyPr>
            <a:noAutofit/>
          </a:bodyPr>
          <a:lstStyle/>
          <a:p>
            <a:r>
              <a:rPr lang="en-IN" sz="2800" dirty="0">
                <a:latin typeface="Arial Black" panose="020B0A04020102020204" pitchFamily="34" charset="0"/>
              </a:rPr>
              <a:t>Configure R1 HQ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6E3DCB91-F6C9-AE0D-6A0E-C971D0310CD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532415"/>
            <a:ext cx="12192000" cy="6319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20207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32E37E-36FA-0C1B-F323-3E2EDAF2AF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57BCA9-B5B1-22D5-E630-6B1D06949A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8542" y="122755"/>
            <a:ext cx="7898176" cy="315912"/>
          </a:xfrm>
        </p:spPr>
        <p:txBody>
          <a:bodyPr>
            <a:noAutofit/>
          </a:bodyPr>
          <a:lstStyle/>
          <a:p>
            <a:r>
              <a:rPr lang="en-IN" sz="2800" dirty="0">
                <a:latin typeface="Arial Black" panose="020B0A04020102020204" pitchFamily="34" charset="0"/>
              </a:rPr>
              <a:t>Configure R2 CORE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E7BFA77-E725-1CDE-1291-4F2E91B91F9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613768"/>
            <a:ext cx="12192000" cy="6244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70643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022642-7EA4-A40C-228B-A10D515BEE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9CC4B75D-E245-FBFF-5680-14EDA3EB3F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8542" y="122755"/>
            <a:ext cx="11654928" cy="450122"/>
          </a:xfrm>
        </p:spPr>
        <p:txBody>
          <a:bodyPr>
            <a:noAutofit/>
          </a:bodyPr>
          <a:lstStyle/>
          <a:p>
            <a:r>
              <a:rPr lang="en-IN" sz="2800" dirty="0">
                <a:latin typeface="Arial Black" panose="020B0A04020102020204" pitchFamily="34" charset="0"/>
              </a:rPr>
              <a:t>Configure R2 CORE  </a:t>
            </a:r>
            <a:r>
              <a:rPr lang="en-IN" sz="2800" b="1" dirty="0"/>
              <a:t>DCE </a:t>
            </a:r>
            <a:r>
              <a:rPr lang="en-IN" sz="2800" b="1" dirty="0">
                <a:effectLst/>
              </a:rPr>
              <a:t>interface serial 1/1 --- clock rate 64000</a:t>
            </a:r>
            <a:endParaRPr lang="en-IN" sz="2800" b="1" dirty="0">
              <a:latin typeface="Arial Black" panose="020B0A04020102020204" pitchFamily="34" charset="0"/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F652F972-64D3-A510-D5D3-9554798370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830162"/>
            <a:ext cx="12192000" cy="6027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47857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E3FDA9-DA1B-35AD-777C-353F849D02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4F406964-F2AB-3B10-0665-A26E9C4F76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8542" y="122755"/>
            <a:ext cx="11783458" cy="317920"/>
          </a:xfrm>
        </p:spPr>
        <p:txBody>
          <a:bodyPr>
            <a:noAutofit/>
          </a:bodyPr>
          <a:lstStyle/>
          <a:p>
            <a:r>
              <a:rPr lang="en-IN" sz="2800" dirty="0">
                <a:latin typeface="Arial Black" panose="020B0A04020102020204" pitchFamily="34" charset="0"/>
              </a:rPr>
              <a:t>Configure R3 BRANCH </a:t>
            </a:r>
            <a:r>
              <a:rPr lang="en-IN" sz="2800" b="1" dirty="0"/>
              <a:t>DCE </a:t>
            </a:r>
            <a:r>
              <a:rPr lang="en-IN" sz="2800" b="1" dirty="0">
                <a:effectLst/>
              </a:rPr>
              <a:t>interface serial 1/0 -- clock rate 64000</a:t>
            </a:r>
            <a:endParaRPr lang="en-IN" sz="2800" b="1" dirty="0">
              <a:latin typeface="Arial Black" panose="020B0A04020102020204" pitchFamily="34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16BBEE4-F4D4-291A-D677-70F6B4B0DA2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1" y="536650"/>
            <a:ext cx="12192001" cy="6321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97753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7E4885-5E59-6F31-6FB3-873F71B6C2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FF90EDE-9504-6CB3-C0FB-BD226147E8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8541" y="122755"/>
            <a:ext cx="11060017" cy="350970"/>
          </a:xfrm>
        </p:spPr>
        <p:txBody>
          <a:bodyPr>
            <a:noAutofit/>
          </a:bodyPr>
          <a:lstStyle/>
          <a:p>
            <a:r>
              <a:rPr lang="en-IN" sz="2800" dirty="0">
                <a:latin typeface="Arial Black" panose="020B0A04020102020204" pitchFamily="34" charset="0"/>
              </a:rPr>
              <a:t>Configure R4 REMOTE </a:t>
            </a:r>
            <a:r>
              <a:rPr lang="en-IN" sz="2800" b="1" dirty="0"/>
              <a:t>DCE </a:t>
            </a:r>
            <a:r>
              <a:rPr lang="en-IN" sz="2800" b="1" dirty="0">
                <a:effectLst/>
              </a:rPr>
              <a:t>interface serial 1/0 -- clock rate 64000</a:t>
            </a:r>
            <a:endParaRPr lang="en-IN" sz="2800" b="1" dirty="0">
              <a:latin typeface="Arial Black" panose="020B0A04020102020204" pitchFamily="34" charset="0"/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7BDD1364-E77D-C9C4-AADF-841C2B4139A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1" y="473724"/>
            <a:ext cx="12192001" cy="6384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77812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76EF6A-D90E-2177-5C4F-78AC029A93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C5995251-6872-5A1F-3A5C-DF8E01F9FB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8541" y="122755"/>
            <a:ext cx="11060017" cy="350970"/>
          </a:xfrm>
        </p:spPr>
        <p:txBody>
          <a:bodyPr>
            <a:noAutofit/>
          </a:bodyPr>
          <a:lstStyle/>
          <a:p>
            <a:r>
              <a:rPr lang="en-IN" sz="2800" dirty="0">
                <a:latin typeface="Arial Black" panose="020B0A04020102020204" pitchFamily="34" charset="0"/>
              </a:rPr>
              <a:t>Configure ISP</a:t>
            </a:r>
            <a:endParaRPr lang="en-IN" sz="2800" b="1" dirty="0">
              <a:latin typeface="Arial Black" panose="020B0A04020102020204" pitchFamily="34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583ADF6-FB02-B812-9D3D-158DF738C01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473724"/>
            <a:ext cx="12192000" cy="6384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5307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CB5A05-6B3B-43AD-7FBC-2002DE567C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5F8758C0-748D-68DE-E7CE-9516E28F88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8541" y="122755"/>
            <a:ext cx="11060017" cy="350970"/>
          </a:xfrm>
        </p:spPr>
        <p:txBody>
          <a:bodyPr>
            <a:noAutofit/>
          </a:bodyPr>
          <a:lstStyle/>
          <a:p>
            <a:r>
              <a:rPr lang="en-IN" sz="2800" dirty="0">
                <a:latin typeface="Arial Black" panose="020B0A04020102020204" pitchFamily="34" charset="0"/>
              </a:rPr>
              <a:t>DHCP on R1 — HQ</a:t>
            </a:r>
            <a:endParaRPr lang="en-IN" sz="2800" b="1" dirty="0">
              <a:latin typeface="Arial Black" panose="020B0A04020102020204" pitchFamily="34" charset="0"/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9BD73915-A23F-B07A-8B26-987574C2219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591736"/>
            <a:ext cx="12192000" cy="6266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87471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3E6525-DF12-D6E9-1D26-577369387D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DF9DDE9E-81DB-252D-4146-BC8C7E14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8541" y="122755"/>
            <a:ext cx="11060017" cy="350970"/>
          </a:xfrm>
        </p:spPr>
        <p:txBody>
          <a:bodyPr>
            <a:noAutofit/>
          </a:bodyPr>
          <a:lstStyle/>
          <a:p>
            <a:r>
              <a:rPr lang="en-IN" sz="2800" dirty="0">
                <a:latin typeface="Arial Black" panose="020B0A04020102020204" pitchFamily="34" charset="0"/>
              </a:rPr>
              <a:t>DHCP on R3 — Branch</a:t>
            </a:r>
            <a:endParaRPr lang="en-IN" sz="2800" b="1" dirty="0">
              <a:latin typeface="Arial Black" panose="020B0A04020102020204" pitchFamily="34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1F7A284-0AB0-D826-E470-307BFBEBAB5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558684"/>
            <a:ext cx="12192000" cy="6299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51016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0EB25F-612E-6727-8B00-33CB9FAAEF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CD2666D8-6640-0091-7AA0-7E94001756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8541" y="122755"/>
            <a:ext cx="11060017" cy="350970"/>
          </a:xfrm>
        </p:spPr>
        <p:txBody>
          <a:bodyPr>
            <a:noAutofit/>
          </a:bodyPr>
          <a:lstStyle/>
          <a:p>
            <a:r>
              <a:rPr lang="en-IN" sz="2800" dirty="0">
                <a:latin typeface="Arial Black" panose="020B0A04020102020204" pitchFamily="34" charset="0"/>
              </a:rPr>
              <a:t>DHCP on R4 — Remote</a:t>
            </a:r>
            <a:endParaRPr lang="en-IN" sz="2800" b="1" dirty="0">
              <a:latin typeface="Arial Black" panose="020B0A04020102020204" pitchFamily="34" charset="0"/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644C8F68-235E-9911-6AA9-DB4314CC47C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580718"/>
            <a:ext cx="12192000" cy="6277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51597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FBEBCB-B17C-D525-404E-597F0AD323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C6E0E9A5-F0BE-8082-CD04-A95F4EC503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8541" y="122755"/>
            <a:ext cx="11060017" cy="350970"/>
          </a:xfrm>
        </p:spPr>
        <p:txBody>
          <a:bodyPr>
            <a:noAutofit/>
          </a:bodyPr>
          <a:lstStyle/>
          <a:p>
            <a:r>
              <a:rPr lang="en-IN" sz="2800" dirty="0">
                <a:latin typeface="Arial Black" panose="020B0A04020102020204" pitchFamily="34" charset="0"/>
              </a:rPr>
              <a:t>DNS SERVER – Ip configuration</a:t>
            </a:r>
            <a:endParaRPr lang="en-IN" sz="2800" b="1" dirty="0">
              <a:latin typeface="Arial Black" panose="020B0A04020102020204" pitchFamily="34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3DFC246-2F51-BF2C-0D66-614CDB4DD9A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646820"/>
            <a:ext cx="12192000" cy="6211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37652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6E1B6D-8A1D-A2A2-DB87-E2EBA12588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DC1972D-4609-D993-FD73-EBB35C2C5D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8541" y="122755"/>
            <a:ext cx="11060017" cy="350970"/>
          </a:xfrm>
        </p:spPr>
        <p:txBody>
          <a:bodyPr>
            <a:noAutofit/>
          </a:bodyPr>
          <a:lstStyle/>
          <a:p>
            <a:r>
              <a:rPr lang="en-IN" sz="2800" dirty="0">
                <a:latin typeface="Arial Black" panose="020B0A04020102020204" pitchFamily="34" charset="0"/>
              </a:rPr>
              <a:t>DNS SERVER - SERVICES</a:t>
            </a:r>
            <a:endParaRPr lang="en-IN" sz="2800" b="1" dirty="0">
              <a:latin typeface="Arial Black" panose="020B0A04020102020204" pitchFamily="34" charset="0"/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1BCF1438-B5A8-C067-49CC-AFA5A667B7A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473724"/>
            <a:ext cx="12192000" cy="6384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10361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E1DDC4-8624-B459-82B0-AB46F0F9CB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82DADF0-88CB-777B-B013-9C5E1AFC1D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8541" y="122755"/>
            <a:ext cx="11060017" cy="350970"/>
          </a:xfrm>
        </p:spPr>
        <p:txBody>
          <a:bodyPr>
            <a:noAutofit/>
          </a:bodyPr>
          <a:lstStyle/>
          <a:p>
            <a:r>
              <a:rPr lang="en-IN" sz="2800" dirty="0">
                <a:latin typeface="Arial Black" panose="020B0A04020102020204" pitchFamily="34" charset="0"/>
              </a:rPr>
              <a:t>R1-HQ OSPF -</a:t>
            </a:r>
            <a:r>
              <a:rPr lang="en-IN" sz="2800" dirty="0"/>
              <a:t>  </a:t>
            </a:r>
            <a:r>
              <a:rPr lang="en-IN" sz="2800" b="1" dirty="0"/>
              <a:t>We'll use OSPF area 0 for internal network. </a:t>
            </a:r>
            <a:endParaRPr lang="en-IN" sz="2800" b="1" dirty="0">
              <a:latin typeface="Arial Black" panose="020B0A04020102020204" pitchFamily="34" charset="0"/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077FFAE9-8EE5-AE66-E770-3A2CCD78AA7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644096"/>
            <a:ext cx="12192000" cy="6213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06041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FE5D38-AF1A-256D-0228-6CD3C77391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5F641ECC-57CD-E1B3-EA97-43FFFA081D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557551" cy="436652"/>
          </a:xfrm>
        </p:spPr>
        <p:txBody>
          <a:bodyPr>
            <a:noAutofit/>
          </a:bodyPr>
          <a:lstStyle/>
          <a:p>
            <a:r>
              <a:rPr lang="en-IN" sz="2800" dirty="0">
                <a:latin typeface="Arial Black" panose="020B0A04020102020204" pitchFamily="34" charset="0"/>
              </a:rPr>
              <a:t>R2 CORE-</a:t>
            </a:r>
            <a:endParaRPr lang="en-IN" sz="2800" b="1" dirty="0">
              <a:latin typeface="Arial Black" panose="020B0A04020102020204" pitchFamily="34" charset="0"/>
            </a:endParaRP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275569E6-A97C-9558-0D02-DE7D5528FDA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/>
        </p:blipFill>
        <p:spPr>
          <a:xfrm>
            <a:off x="4874964" y="321468"/>
            <a:ext cx="7317036" cy="4486837"/>
          </a:xfrm>
          <a:prstGeom prst="rect">
            <a:avLst/>
          </a:prstGeom>
        </p:spPr>
      </p:pic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0DB0A327-121F-02CA-445E-63E60EECEF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28774" y="893852"/>
            <a:ext cx="4443252" cy="4975136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/>
              <a:t>The important thing is: /30 subnets always increase in blocks of 4.</a:t>
            </a:r>
          </a:p>
          <a:p>
            <a:r>
              <a:rPr lang="en-US" b="1" dirty="0"/>
              <a:t>Why .9 and .10 use 10.0.0.8/30 For /30:</a:t>
            </a:r>
          </a:p>
          <a:p>
            <a:r>
              <a:rPr lang="en-US" b="1" dirty="0"/>
              <a:t>Network address = first IP</a:t>
            </a:r>
          </a:p>
          <a:p>
            <a:r>
              <a:rPr lang="en-US" b="1" dirty="0"/>
              <a:t>Usable IPs = next 2 </a:t>
            </a:r>
          </a:p>
          <a:p>
            <a:r>
              <a:rPr lang="en-US" b="1" dirty="0" err="1"/>
              <a:t>IPsBroadcast</a:t>
            </a:r>
            <a:r>
              <a:rPr lang="en-US" b="1" dirty="0"/>
              <a:t> = fourth IP</a:t>
            </a:r>
          </a:p>
          <a:p>
            <a:endParaRPr lang="en-US" b="1" dirty="0"/>
          </a:p>
          <a:p>
            <a:r>
              <a:rPr lang="en-US" b="1" dirty="0"/>
              <a:t>Easy way to remember /30</a:t>
            </a:r>
          </a:p>
          <a:p>
            <a:r>
              <a:rPr lang="en-US" b="1" dirty="0"/>
              <a:t>Just count by 4:</a:t>
            </a:r>
          </a:p>
          <a:p>
            <a:r>
              <a:rPr lang="en-US" b="1" dirty="0"/>
              <a:t>0 → 4 → 8 → 12 → 16 → 20 → 24 → ...</a:t>
            </a:r>
          </a:p>
          <a:p>
            <a:r>
              <a:rPr lang="en-US" b="1" dirty="0"/>
              <a:t>Each block looks like:</a:t>
            </a:r>
          </a:p>
          <a:p>
            <a:r>
              <a:rPr lang="en-US" b="1" dirty="0"/>
              <a:t>Network   Host   </a:t>
            </a:r>
            <a:r>
              <a:rPr lang="en-US" b="1" dirty="0" err="1"/>
              <a:t>Host</a:t>
            </a:r>
            <a:r>
              <a:rPr lang="en-US" b="1" dirty="0"/>
              <a:t>   Broadcast  </a:t>
            </a:r>
          </a:p>
          <a:p>
            <a:r>
              <a:rPr lang="en-US" b="1" dirty="0"/>
              <a:t>.0                .1         .2       .3  </a:t>
            </a:r>
          </a:p>
          <a:p>
            <a:r>
              <a:rPr lang="en-US" b="1" dirty="0"/>
              <a:t>.4                .5         .6       .7  </a:t>
            </a:r>
          </a:p>
          <a:p>
            <a:r>
              <a:rPr lang="en-US" b="1" dirty="0"/>
              <a:t>.8                .9         .10     .11 </a:t>
            </a:r>
          </a:p>
          <a:p>
            <a:r>
              <a:rPr lang="en-US" b="1" dirty="0"/>
              <a:t>.12              .13       .14     .15</a:t>
            </a:r>
            <a:endParaRPr lang="en-IN" b="1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196846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059F86-0691-8693-A4F8-F6D006C679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9D976662-10D2-6D40-B2D2-4C0073C665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8541" y="122755"/>
            <a:ext cx="11060017" cy="350970"/>
          </a:xfrm>
        </p:spPr>
        <p:txBody>
          <a:bodyPr>
            <a:noAutofit/>
          </a:bodyPr>
          <a:lstStyle/>
          <a:p>
            <a:r>
              <a:rPr lang="en-IN" sz="2800" dirty="0">
                <a:latin typeface="Arial Black" panose="020B0A04020102020204" pitchFamily="34" charset="0"/>
              </a:rPr>
              <a:t>R3 BRANCH-</a:t>
            </a:r>
            <a:r>
              <a:rPr lang="en-IN" sz="2800" dirty="0"/>
              <a:t>  </a:t>
            </a:r>
            <a:r>
              <a:rPr lang="en-IN" sz="2800" b="1" dirty="0"/>
              <a:t>We'll use OSPF area 0 for internal network. </a:t>
            </a:r>
            <a:endParaRPr lang="en-IN" sz="2800" b="1" dirty="0">
              <a:latin typeface="Arial Black" panose="020B0A04020102020204" pitchFamily="34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8A48119-A016-5E08-B88F-58D67C49FB4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633822"/>
            <a:ext cx="12192000" cy="6224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77722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87584B-55F3-9534-34C7-1C17AEC159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58DA9C10-1CF4-24DE-3818-0E8D37D389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8541" y="122755"/>
            <a:ext cx="11060017" cy="350970"/>
          </a:xfrm>
        </p:spPr>
        <p:txBody>
          <a:bodyPr>
            <a:noAutofit/>
          </a:bodyPr>
          <a:lstStyle/>
          <a:p>
            <a:r>
              <a:rPr lang="en-IN" sz="2800" dirty="0">
                <a:latin typeface="Arial Black" panose="020B0A04020102020204" pitchFamily="34" charset="0"/>
              </a:rPr>
              <a:t>R4 REMOTE-</a:t>
            </a:r>
            <a:r>
              <a:rPr lang="en-IN" sz="2800" dirty="0"/>
              <a:t>  </a:t>
            </a:r>
            <a:r>
              <a:rPr lang="en-IN" sz="2800" b="1" dirty="0"/>
              <a:t>We'll use OSPF area 0 for internal network. </a:t>
            </a:r>
            <a:endParaRPr lang="en-IN" sz="2800" b="1" dirty="0">
              <a:latin typeface="Arial Black" panose="020B0A04020102020204" pitchFamily="34" charset="0"/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400DF198-81E3-6B5D-7B87-1C079B2BFFE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603000"/>
            <a:ext cx="12192000" cy="625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47618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0D0989-F934-2625-3742-12C6766084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D88DD8F6-145C-0EFF-6DB8-570DC66389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8541" y="122755"/>
            <a:ext cx="11060017" cy="350970"/>
          </a:xfrm>
        </p:spPr>
        <p:txBody>
          <a:bodyPr>
            <a:noAutofit/>
          </a:bodyPr>
          <a:lstStyle/>
          <a:p>
            <a:r>
              <a:rPr lang="en-IN" sz="2800" dirty="0">
                <a:latin typeface="Arial Black" panose="020B0A04020102020204" pitchFamily="34" charset="0"/>
              </a:rPr>
              <a:t>R1 HQ-</a:t>
            </a:r>
            <a:r>
              <a:rPr lang="en-IN" sz="2800" dirty="0"/>
              <a:t>  </a:t>
            </a:r>
            <a:r>
              <a:rPr lang="en-IN" sz="2800" b="1" dirty="0"/>
              <a:t>RIP. </a:t>
            </a:r>
            <a:endParaRPr lang="en-IN" sz="2800" b="1" dirty="0">
              <a:latin typeface="Arial Black" panose="020B0A04020102020204" pitchFamily="34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8956F28-B14D-E305-B539-F21F52EC04D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561904"/>
            <a:ext cx="12192000" cy="6296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280042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827AD8-766B-4726-E834-FF466A9254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2D84BA7E-88B2-D5B1-9143-6E56D1E725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8541" y="122755"/>
            <a:ext cx="11060017" cy="350970"/>
          </a:xfrm>
        </p:spPr>
        <p:txBody>
          <a:bodyPr>
            <a:noAutofit/>
          </a:bodyPr>
          <a:lstStyle/>
          <a:p>
            <a:r>
              <a:rPr lang="en-IN" sz="2800" dirty="0">
                <a:latin typeface="Arial Black" panose="020B0A04020102020204" pitchFamily="34" charset="0"/>
              </a:rPr>
              <a:t>R2 CORE-</a:t>
            </a:r>
            <a:r>
              <a:rPr lang="en-IN" sz="2800" dirty="0"/>
              <a:t>  </a:t>
            </a:r>
            <a:r>
              <a:rPr lang="en-IN" sz="2800" b="1" dirty="0"/>
              <a:t>RIP. </a:t>
            </a:r>
            <a:endParaRPr lang="en-IN" sz="2800" b="1" dirty="0">
              <a:latin typeface="Arial Black" panose="020B0A04020102020204" pitchFamily="34" charset="0"/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5F2617BB-6DC0-A48A-3EFE-7C0649FC3E5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473724"/>
            <a:ext cx="12192000" cy="6384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455446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FBF1D6-6EB7-7F71-1EBB-F798936C3D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D29EC9F0-4835-AEE6-1A08-8A5C4614A8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8541" y="122755"/>
            <a:ext cx="11060017" cy="350970"/>
          </a:xfrm>
        </p:spPr>
        <p:txBody>
          <a:bodyPr>
            <a:noAutofit/>
          </a:bodyPr>
          <a:lstStyle/>
          <a:p>
            <a:r>
              <a:rPr lang="en-IN" sz="2800" dirty="0">
                <a:latin typeface="Arial Black" panose="020B0A04020102020204" pitchFamily="34" charset="0"/>
              </a:rPr>
              <a:t>R3 BRANCH -</a:t>
            </a:r>
            <a:r>
              <a:rPr lang="en-IN" sz="2800" dirty="0"/>
              <a:t>  </a:t>
            </a:r>
            <a:r>
              <a:rPr lang="en-IN" sz="2800" b="1" dirty="0"/>
              <a:t>RIP. </a:t>
            </a:r>
            <a:endParaRPr lang="en-IN" sz="2800" b="1" dirty="0">
              <a:latin typeface="Arial Black" panose="020B0A04020102020204" pitchFamily="34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A9F7B9B-2F45-CAFC-A111-455CDAA99C8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561904"/>
            <a:ext cx="12192000" cy="6296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090710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14B08A-FDF5-769A-EA23-0BDB6868EA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CB18F11B-81D6-887D-3A62-1D55E151FA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8541" y="122755"/>
            <a:ext cx="11060017" cy="350970"/>
          </a:xfrm>
        </p:spPr>
        <p:txBody>
          <a:bodyPr>
            <a:noAutofit/>
          </a:bodyPr>
          <a:lstStyle/>
          <a:p>
            <a:r>
              <a:rPr lang="en-IN" sz="2800" dirty="0">
                <a:latin typeface="Arial Black" panose="020B0A04020102020204" pitchFamily="34" charset="0"/>
              </a:rPr>
              <a:t>R4 REMOTE -</a:t>
            </a:r>
            <a:r>
              <a:rPr lang="en-IN" sz="2800" dirty="0"/>
              <a:t>  </a:t>
            </a:r>
            <a:r>
              <a:rPr lang="en-IN" sz="2800" b="1" dirty="0"/>
              <a:t>RIP. </a:t>
            </a:r>
            <a:endParaRPr lang="en-IN" sz="2800" b="1" dirty="0">
              <a:latin typeface="Arial Black" panose="020B0A04020102020204" pitchFamily="34" charset="0"/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0ACD2178-5003-38EC-B896-D6FAE094974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644096"/>
            <a:ext cx="12192000" cy="6213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647653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E1C626-433E-13DC-04B4-D8CB5554A1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4422F0FA-7E3F-05A5-4A70-7F4821A86B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8541" y="122755"/>
            <a:ext cx="11060017" cy="350970"/>
          </a:xfrm>
        </p:spPr>
        <p:txBody>
          <a:bodyPr>
            <a:noAutofit/>
          </a:bodyPr>
          <a:lstStyle/>
          <a:p>
            <a:r>
              <a:rPr lang="en-IN" sz="2800" b="1" dirty="0">
                <a:latin typeface="Arial Black" panose="020B0A04020102020204" pitchFamily="34" charset="0"/>
              </a:rPr>
              <a:t>BGP between R2 CORE and ISP</a:t>
            </a:r>
            <a:r>
              <a:rPr lang="en-IN" sz="2800" dirty="0">
                <a:latin typeface="Arial Black" panose="020B0A04020102020204" pitchFamily="34" charset="0"/>
              </a:rPr>
              <a:t>.</a:t>
            </a:r>
            <a:endParaRPr lang="en-IN" sz="2800" b="1" dirty="0">
              <a:latin typeface="Arial Black" panose="020B0A04020102020204" pitchFamily="34" charset="0"/>
            </a:endParaRP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050089C4-7690-89C9-C0F1-C4C78715F49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572178"/>
            <a:ext cx="12192000" cy="6285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050158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FE3D3D-51FB-8FD9-BB64-1D8F5CFDAD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2C3E95F5-4B4A-4CA8-DF8A-A744073DFC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8541" y="122755"/>
            <a:ext cx="11060017" cy="350970"/>
          </a:xfrm>
        </p:spPr>
        <p:txBody>
          <a:bodyPr>
            <a:noAutofit/>
          </a:bodyPr>
          <a:lstStyle/>
          <a:p>
            <a:r>
              <a:rPr lang="en-IN" sz="2800" b="1" dirty="0">
                <a:latin typeface="Arial Black" panose="020B0A04020102020204" pitchFamily="34" charset="0"/>
              </a:rPr>
              <a:t>BGP between R2 CORE and ISP</a:t>
            </a:r>
            <a:r>
              <a:rPr lang="en-IN" sz="2800" dirty="0">
                <a:latin typeface="Arial Black" panose="020B0A04020102020204" pitchFamily="34" charset="0"/>
              </a:rPr>
              <a:t>.</a:t>
            </a:r>
            <a:endParaRPr lang="en-IN" sz="2800" b="1" dirty="0">
              <a:latin typeface="Arial Black" panose="020B0A04020102020204" pitchFamily="34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D3F54AC-460C-6184-DE43-AAF9026042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613274"/>
            <a:ext cx="12192000" cy="6244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839707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0C0ED4-8434-CD23-98B3-4A3296C5C6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BC62761F-1952-737B-D3F4-F65F3CD24F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8541" y="122755"/>
            <a:ext cx="11060017" cy="350970"/>
          </a:xfrm>
        </p:spPr>
        <p:txBody>
          <a:bodyPr>
            <a:noAutofit/>
          </a:bodyPr>
          <a:lstStyle/>
          <a:p>
            <a:r>
              <a:rPr lang="en-IN" sz="2800" dirty="0">
                <a:latin typeface="Arial Black" panose="020B0A04020102020204" pitchFamily="34" charset="0"/>
              </a:rPr>
              <a:t>configure NAT</a:t>
            </a:r>
            <a:endParaRPr lang="en-IN" sz="2800" b="1" dirty="0">
              <a:latin typeface="Arial Black" panose="020B0A04020102020204" pitchFamily="34" charset="0"/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A3C9CA75-1836-1E35-6F5F-5F7F61B6FB2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726290"/>
            <a:ext cx="12192000" cy="6131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606891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7D90C9-300E-0447-9261-04E7D8BBE1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1F908371-5BA4-2519-F91B-564B0B1C2D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8541" y="122755"/>
            <a:ext cx="11060017" cy="350970"/>
          </a:xfrm>
        </p:spPr>
        <p:txBody>
          <a:bodyPr>
            <a:noAutofit/>
          </a:bodyPr>
          <a:lstStyle/>
          <a:p>
            <a:r>
              <a:rPr lang="en-IN" sz="2400" dirty="0">
                <a:latin typeface="Arial Black" panose="020B0A04020102020204" pitchFamily="34" charset="0"/>
              </a:rPr>
              <a:t>Mark internal interfaces and Mark ISP interface as outside</a:t>
            </a:r>
            <a:endParaRPr lang="en-IN" sz="2400" b="1" dirty="0">
              <a:latin typeface="Arial Black" panose="020B0A04020102020204" pitchFamily="34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5E91AB6-5DE2-DBDD-53A4-88D22068CB3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603000"/>
            <a:ext cx="12192000" cy="625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924584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000397-9A36-AF4B-1465-39349A0159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A80C93A-24CD-BE76-80C5-FCC7F8472C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380" y="111214"/>
            <a:ext cx="9857198" cy="569823"/>
          </a:xfrm>
        </p:spPr>
        <p:txBody>
          <a:bodyPr>
            <a:noAutofit/>
          </a:bodyPr>
          <a:lstStyle/>
          <a:p>
            <a:r>
              <a:rPr lang="en-IN" sz="2400" dirty="0">
                <a:latin typeface="Arial Black" panose="020B0A04020102020204" pitchFamily="34" charset="0"/>
              </a:rPr>
              <a:t>R2 needs to know that the ISP is its default path</a:t>
            </a:r>
            <a:endParaRPr lang="en-IN" sz="2400" b="1" dirty="0">
              <a:latin typeface="Arial Black" panose="020B0A04020102020204" pitchFamily="34" charset="0"/>
            </a:endParaRP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E8B8274F-CA1B-D453-982F-58BCE9D000F8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058237" y="804327"/>
            <a:ext cx="7931649" cy="1632509"/>
          </a:xfrm>
          <a:prstGeom prst="rect">
            <a:avLst/>
          </a:prstGeom>
        </p:spPr>
      </p:pic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BD46002C-F280-EED2-4576-923402E5BCB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-2" y="2718630"/>
            <a:ext cx="12192001" cy="4139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72585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A9FDB5-62B9-4A51-1D9C-85FA6C8BF2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C0CAD24E-D7DE-038B-F55E-6B7E00D029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4363" y="213956"/>
            <a:ext cx="9086636" cy="467081"/>
          </a:xfrm>
        </p:spPr>
        <p:txBody>
          <a:bodyPr>
            <a:noAutofit/>
          </a:bodyPr>
          <a:lstStyle/>
          <a:p>
            <a:r>
              <a:rPr lang="en-IN" sz="2400" dirty="0">
                <a:latin typeface="Arial Black" panose="020B0A04020102020204" pitchFamily="34" charset="0"/>
              </a:rPr>
              <a:t>SSH ON R1</a:t>
            </a:r>
            <a:endParaRPr lang="en-IN" sz="2400" b="1" dirty="0">
              <a:latin typeface="Arial Black" panose="020B0A04020102020204" pitchFamily="34" charset="0"/>
            </a:endParaRP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BA23390A-6A06-C7CF-6227-4D369113705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572178"/>
            <a:ext cx="12192000" cy="6285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476704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D6BCB3-339F-26CE-0425-05154062B4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1F006560-AD29-745A-CFEA-F5C61A0CC9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4363" y="213956"/>
            <a:ext cx="9086636" cy="467081"/>
          </a:xfrm>
        </p:spPr>
        <p:txBody>
          <a:bodyPr>
            <a:noAutofit/>
          </a:bodyPr>
          <a:lstStyle/>
          <a:p>
            <a:r>
              <a:rPr lang="en-IN" sz="2400" dirty="0">
                <a:latin typeface="Arial Black" panose="020B0A04020102020204" pitchFamily="34" charset="0"/>
              </a:rPr>
              <a:t>SSH ON R2</a:t>
            </a:r>
            <a:endParaRPr lang="en-IN" sz="2400" b="1" dirty="0">
              <a:latin typeface="Arial Black" panose="020B0A04020102020204" pitchFamily="34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1EA6DA9-3C9E-861D-BF44-E863932B6D1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582452"/>
            <a:ext cx="12192000" cy="6275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018772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D9FEA0-5F0F-7B5E-E91A-96DE13C1BC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5A369CDD-FA93-99AB-B151-FF9DD7CF6B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4363" y="213956"/>
            <a:ext cx="9086636" cy="467081"/>
          </a:xfrm>
        </p:spPr>
        <p:txBody>
          <a:bodyPr>
            <a:noAutofit/>
          </a:bodyPr>
          <a:lstStyle/>
          <a:p>
            <a:r>
              <a:rPr lang="en-IN" sz="2400" dirty="0">
                <a:latin typeface="Arial Black" panose="020B0A04020102020204" pitchFamily="34" charset="0"/>
              </a:rPr>
              <a:t>SSH ON R3</a:t>
            </a:r>
            <a:endParaRPr lang="en-IN" sz="2400" b="1" dirty="0">
              <a:latin typeface="Arial Black" panose="020B0A04020102020204" pitchFamily="34" charset="0"/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9DA48FAC-6AAC-2A60-38DA-635F9B16603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681036"/>
            <a:ext cx="12192000" cy="6176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397404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F8E473-6700-775C-6466-89BD64841A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1C103515-BF16-AC47-D473-89EC034F4C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4363" y="213956"/>
            <a:ext cx="9086636" cy="467081"/>
          </a:xfrm>
        </p:spPr>
        <p:txBody>
          <a:bodyPr>
            <a:noAutofit/>
          </a:bodyPr>
          <a:lstStyle/>
          <a:p>
            <a:r>
              <a:rPr lang="en-IN" sz="2400" dirty="0">
                <a:latin typeface="Arial Black" panose="020B0A04020102020204" pitchFamily="34" charset="0"/>
              </a:rPr>
              <a:t>SSH ON R4</a:t>
            </a:r>
            <a:endParaRPr lang="en-IN" sz="2400" b="1" dirty="0">
              <a:latin typeface="Arial Black" panose="020B0A04020102020204" pitchFamily="34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5B15062-C1D0-9DDE-E61A-1AED6EE495B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681036"/>
            <a:ext cx="12192000" cy="6176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343375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4">
                <a:lumMod val="5000"/>
                <a:lumOff val="95000"/>
              </a:schemeClr>
            </a:gs>
            <a:gs pos="74000">
              <a:schemeClr val="accent4">
                <a:lumMod val="45000"/>
                <a:lumOff val="55000"/>
              </a:schemeClr>
            </a:gs>
            <a:gs pos="83000">
              <a:schemeClr val="accent4">
                <a:lumMod val="45000"/>
                <a:lumOff val="55000"/>
              </a:schemeClr>
            </a:gs>
            <a:gs pos="100000">
              <a:schemeClr val="accent4">
                <a:lumMod val="30000"/>
                <a:lumOff val="70000"/>
              </a:schemeClr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C0F824-3547-0073-9BB6-E8C0174AA2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7"/>
            <a:ext cx="10840091" cy="425984"/>
          </a:xfrm>
        </p:spPr>
        <p:txBody>
          <a:bodyPr>
            <a:normAutofit fontScale="90000"/>
          </a:bodyPr>
          <a:lstStyle/>
          <a:p>
            <a:r>
              <a:rPr lang="en-IN" b="1" dirty="0">
                <a:latin typeface="Arial Black" panose="020B0A04020102020204" pitchFamily="34" charset="0"/>
              </a:rPr>
              <a:t>Challenges Faced During the Project</a:t>
            </a:r>
            <a:endParaRPr lang="en-IN" dirty="0">
              <a:latin typeface="Arial Black" panose="020B0A040201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73D750-9873-772C-5E3F-E20CF051C0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708" y="955497"/>
            <a:ext cx="10840092" cy="5221466"/>
          </a:xfrm>
        </p:spPr>
        <p:txBody>
          <a:bodyPr>
            <a:normAutofit fontScale="85000" lnSpcReduction="20000"/>
          </a:bodyPr>
          <a:lstStyle/>
          <a:p>
            <a:r>
              <a:rPr lang="en-IN" dirty="0"/>
              <a:t>During the development of this project, I encountered several networking challenges.</a:t>
            </a:r>
          </a:p>
          <a:p>
            <a:pPr lvl="0"/>
            <a:r>
              <a:rPr lang="en-IN" b="1" dirty="0"/>
              <a:t>IP Address Configuration:</a:t>
            </a:r>
            <a:r>
              <a:rPr lang="en-IN" dirty="0"/>
              <a:t> Assigning suitable IP addresses and subnet masks to different networks without address conflicts.</a:t>
            </a:r>
          </a:p>
          <a:p>
            <a:pPr lvl="0"/>
            <a:r>
              <a:rPr lang="en-IN" b="1" dirty="0"/>
              <a:t>Serial Connectivity:</a:t>
            </a:r>
            <a:r>
              <a:rPr lang="en-IN" dirty="0"/>
              <a:t> Configuring serial interfaces between routers and ensuring that the connections were active.</a:t>
            </a:r>
          </a:p>
          <a:p>
            <a:pPr lvl="0"/>
            <a:r>
              <a:rPr lang="en-IN" b="1" dirty="0"/>
              <a:t>Routing Protocol Configuration:</a:t>
            </a:r>
            <a:r>
              <a:rPr lang="en-IN" dirty="0"/>
              <a:t> Understanding and configuring routing protocols such as OSPF, RIP, and BGP.</a:t>
            </a:r>
          </a:p>
          <a:p>
            <a:pPr lvl="0"/>
            <a:r>
              <a:rPr lang="en-IN" b="1" dirty="0"/>
              <a:t>DHCP and DNS Configuration:</a:t>
            </a:r>
            <a:r>
              <a:rPr lang="en-IN" dirty="0"/>
              <a:t> Ensuring that devices received IP addresses automatically and could resolve domain names correctly.</a:t>
            </a:r>
          </a:p>
          <a:p>
            <a:pPr lvl="0"/>
            <a:r>
              <a:rPr lang="en-IN" b="1" dirty="0"/>
              <a:t>NAT Configuration:</a:t>
            </a:r>
            <a:r>
              <a:rPr lang="en-IN" dirty="0"/>
              <a:t> Identifying inside and outside interfaces and configuring address translation correctly.</a:t>
            </a:r>
          </a:p>
          <a:p>
            <a:pPr lvl="0"/>
            <a:r>
              <a:rPr lang="en-IN" b="1" dirty="0"/>
              <a:t>Network Troubleshooting:</a:t>
            </a:r>
            <a:r>
              <a:rPr lang="en-IN" dirty="0"/>
              <a:t> Identifying connectivity problems and understanding why devices could not communicate with each other.</a:t>
            </a:r>
          </a:p>
          <a:p>
            <a:pPr lvl="0"/>
            <a:r>
              <a:rPr lang="en-IN" b="1" dirty="0"/>
              <a:t>SSH Configuration:</a:t>
            </a:r>
            <a:r>
              <a:rPr lang="en-IN" dirty="0"/>
              <a:t> Setting up secure remote access and resolving authentication or key-generation issues.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53875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1040</TotalTime>
  <Words>691</Words>
  <Application>Microsoft Office PowerPoint</Application>
  <PresentationFormat>Widescreen</PresentationFormat>
  <Paragraphs>86</Paragraphs>
  <Slides>32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8" baseType="lpstr">
      <vt:lpstr>Arial</vt:lpstr>
      <vt:lpstr>Arial Black</vt:lpstr>
      <vt:lpstr>Baskerville Old Face</vt:lpstr>
      <vt:lpstr>Calibri</vt:lpstr>
      <vt:lpstr>Calibri Light</vt:lpstr>
      <vt:lpstr>Office Theme</vt:lpstr>
      <vt:lpstr>Multi-Branch Enterprise Network Implementation Using  Cisco Packet Tracer</vt:lpstr>
      <vt:lpstr>How This Project Supports Industries</vt:lpstr>
      <vt:lpstr>Lets Begin With the Configuration</vt:lpstr>
      <vt:lpstr>Configure R1 HQ</vt:lpstr>
      <vt:lpstr>Configure R2 CORE</vt:lpstr>
      <vt:lpstr>Configure R2 CORE  DCE interface serial 1/1 --- clock rate 64000</vt:lpstr>
      <vt:lpstr>Configure R3 BRANCH DCE interface serial 1/0 -- clock rate 64000</vt:lpstr>
      <vt:lpstr>Configure R4 REMOTE DCE interface serial 1/0 -- clock rate 64000</vt:lpstr>
      <vt:lpstr>Configure ISP</vt:lpstr>
      <vt:lpstr>DHCP on R1 — HQ</vt:lpstr>
      <vt:lpstr>DHCP on R3 — Branch</vt:lpstr>
      <vt:lpstr>DHCP on R4 — Remote</vt:lpstr>
      <vt:lpstr>DNS SERVER – Ip configuration</vt:lpstr>
      <vt:lpstr>DNS SERVER - SERVICES</vt:lpstr>
      <vt:lpstr>R1-HQ OSPF -  We'll use OSPF area 0 for internal network. </vt:lpstr>
      <vt:lpstr>R2 CORE-</vt:lpstr>
      <vt:lpstr>R3 BRANCH-  We'll use OSPF area 0 for internal network. </vt:lpstr>
      <vt:lpstr>R4 REMOTE-  We'll use OSPF area 0 for internal network. </vt:lpstr>
      <vt:lpstr>R1 HQ-  RIP. </vt:lpstr>
      <vt:lpstr>R2 CORE-  RIP. </vt:lpstr>
      <vt:lpstr>R3 BRANCH -  RIP. </vt:lpstr>
      <vt:lpstr>R4 REMOTE -  RIP. </vt:lpstr>
      <vt:lpstr>BGP between R2 CORE and ISP.</vt:lpstr>
      <vt:lpstr>BGP between R2 CORE and ISP.</vt:lpstr>
      <vt:lpstr>configure NAT</vt:lpstr>
      <vt:lpstr>Mark internal interfaces and Mark ISP interface as outside</vt:lpstr>
      <vt:lpstr>R2 needs to know that the ISP is its default path</vt:lpstr>
      <vt:lpstr>SSH ON R1</vt:lpstr>
      <vt:lpstr>SSH ON R2</vt:lpstr>
      <vt:lpstr>SSH ON R3</vt:lpstr>
      <vt:lpstr>SSH ON R4</vt:lpstr>
      <vt:lpstr>Challenges Faced During the Project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Akshata lotankar</dc:creator>
  <cp:lastModifiedBy>Akshata lotankar</cp:lastModifiedBy>
  <cp:revision>5</cp:revision>
  <dcterms:created xsi:type="dcterms:W3CDTF">2026-09-30T17:33:34Z</dcterms:created>
  <dcterms:modified xsi:type="dcterms:W3CDTF">2026-10-03T14:47:05Z</dcterms:modified>
</cp:coreProperties>
</file>